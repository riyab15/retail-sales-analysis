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Retail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Data Analytics 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2631" y="5029200"/>
            <a:ext cx="38187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FFFFF"/>
                </a:solidFill>
              </a:defRPr>
            </a:pPr>
            <a:r>
              <a:rPr dirty="0"/>
              <a:t>Submitted by: </a:t>
            </a:r>
            <a:r>
              <a:rPr lang="en-IN" dirty="0"/>
              <a:t>Riya Baliyan</a:t>
            </a:r>
            <a:r>
              <a:rPr dirty="0"/>
              <a:t>    |    Internship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Objective: Analyze retail sales data to extract business insights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Dataset: </a:t>
            </a:r>
            <a:r>
              <a:rPr lang="en-IN" dirty="0"/>
              <a:t>Online Retail Dataset (UK-based online retailer)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Tech Stack: </a:t>
            </a:r>
            <a:r>
              <a:rPr lang="en-IN" dirty="0"/>
              <a:t>Python (pandas, matplotlib, seaborn), SQL (SQLite), Excel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Output: </a:t>
            </a:r>
            <a:r>
              <a:rPr lang="en-IN" dirty="0"/>
              <a:t>Data Cleaning, SQL Analysis, Visualizations, Excel Dashboard, Business                                                                    Insights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Approach: 4-phase methodology — Collection, Cleaning, Analysis,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Methodology - 4 Phase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Phase 1 – Data Collection:</a:t>
            </a:r>
            <a:r>
              <a:rPr lang="en-IN" dirty="0"/>
              <a:t> Downloaded the Online Retail Dataset and established the analytical environment using Python and SQLite.</a:t>
            </a:r>
          </a:p>
          <a:p>
            <a:r>
              <a:rPr lang="en-IN" b="1" dirty="0"/>
              <a:t>Phase 2 – Data Cleaning:</a:t>
            </a:r>
            <a:r>
              <a:rPr lang="en-IN" dirty="0"/>
              <a:t> Removed missing values and duplicate records, converted date fields, and created calculated metrics for analysis.</a:t>
            </a:r>
          </a:p>
          <a:p>
            <a:r>
              <a:rPr lang="en-IN" b="1" dirty="0"/>
              <a:t>Phase 3 – Data Analysis:</a:t>
            </a:r>
            <a:r>
              <a:rPr lang="en-IN" dirty="0"/>
              <a:t> Performed customer, product, country, and sales trend analysis using Python and SQL queries.</a:t>
            </a:r>
          </a:p>
          <a:p>
            <a:r>
              <a:rPr lang="en-IN" b="1" dirty="0"/>
              <a:t>Phase 4 – Reporting:</a:t>
            </a:r>
            <a:r>
              <a:rPr lang="en-IN" dirty="0"/>
              <a:t> Developed visualizations, Excel dashboards, and a PowerPoint presentation containing key business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Total Records:</a:t>
            </a:r>
            <a:r>
              <a:rPr lang="en-IN" dirty="0"/>
              <a:t> 541,909 transactions before cleaning.</a:t>
            </a:r>
          </a:p>
          <a:p>
            <a:r>
              <a:rPr lang="en-IN" b="1" dirty="0"/>
              <a:t>Records After Cleaning:</a:t>
            </a:r>
            <a:r>
              <a:rPr lang="en-IN" dirty="0"/>
              <a:t> 406,829 valid transactions.</a:t>
            </a:r>
          </a:p>
          <a:p>
            <a:r>
              <a:rPr lang="en-IN" b="1" dirty="0"/>
              <a:t>Time Period:</a:t>
            </a:r>
            <a:r>
              <a:rPr lang="en-IN" dirty="0"/>
              <a:t> December 2010 to December 2011.</a:t>
            </a:r>
          </a:p>
          <a:p>
            <a:r>
              <a:rPr lang="en-IN" b="1" dirty="0"/>
              <a:t>Unique Customers:</a:t>
            </a:r>
            <a:r>
              <a:rPr lang="en-IN" dirty="0"/>
              <a:t> 4,338 customers.</a:t>
            </a:r>
          </a:p>
          <a:p>
            <a:r>
              <a:rPr lang="en-IN" b="1" dirty="0"/>
              <a:t>Countries Covered:</a:t>
            </a:r>
            <a:r>
              <a:rPr lang="en-IN" dirty="0"/>
              <a:t> 38 countries.</a:t>
            </a:r>
          </a:p>
          <a:p>
            <a:r>
              <a:rPr lang="en-IN" b="1" dirty="0"/>
              <a:t>Products:</a:t>
            </a:r>
            <a:r>
              <a:rPr lang="en-IN" dirty="0"/>
              <a:t> More than 4,000 unique retail products.</a:t>
            </a:r>
          </a:p>
          <a:p>
            <a:r>
              <a:rPr lang="en-IN" b="1" dirty="0"/>
              <a:t>Data Fields:</a:t>
            </a:r>
            <a:r>
              <a:rPr lang="en-IN" dirty="0"/>
              <a:t> Invoice Number, Product Code, Description, Quantity, Invoice Date, Unit Price, Customer ID, and Country.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E97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2177" y="1645920"/>
            <a:ext cx="24240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IN" sz="3200" b="1" dirty="0"/>
              <a:t>£8.91 Million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32003" y="2560320"/>
            <a:ext cx="12107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Total </a:t>
            </a:r>
            <a:r>
              <a:rPr lang="en-IN" dirty="0"/>
              <a:t>Revenue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78302" y="1645920"/>
            <a:ext cx="7873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IN" sz="3200" b="1" dirty="0"/>
              <a:t> 38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857769" y="2560320"/>
            <a:ext cx="14284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lang="en-IN" dirty="0"/>
              <a:t>Countries Served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E97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0432" y="1645920"/>
            <a:ext cx="1332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IN" sz="3200" b="1" dirty="0"/>
              <a:t>22,190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2560320" cy="182880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5347" y="3840480"/>
            <a:ext cx="11240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IN" sz="3200" b="1" dirty="0"/>
              <a:t>4,338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566160"/>
            <a:ext cx="2560320" cy="1828800"/>
          </a:xfrm>
          <a:prstGeom prst="roundRect">
            <a:avLst/>
          </a:prstGeom>
          <a:solidFill>
            <a:srgbClr val="E97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53506" y="3840480"/>
            <a:ext cx="16369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IN" sz="3200" b="1" dirty="0"/>
              <a:t>£401.60 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898388" y="4754880"/>
            <a:ext cx="13472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Avg </a:t>
            </a:r>
            <a:r>
              <a:rPr lang="en-IN" dirty="0"/>
              <a:t>Order value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126480" y="3566160"/>
            <a:ext cx="2560320" cy="182880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6237" y="3840480"/>
            <a:ext cx="15408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IN" sz="3200" b="1" dirty="0"/>
              <a:t>517,645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126480" y="4754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Items Sold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Sub-Category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rPr dirty="0"/>
              <a:t>Top sub-categories drive majority of revenue. Some categories show high sales but lower profit margins.</a:t>
            </a:r>
          </a:p>
        </p:txBody>
      </p:sp>
      <p:pic>
        <p:nvPicPr>
          <p:cNvPr id="7" name="Picture 6" descr="The image depicts a bar chart ranking the top 10 selling products, including various themed items such as cake cases, ornaments, and decorative holders.&#10;&#10;AI-generated content may be incorrect.">
            <a:extLst>
              <a:ext uri="{FF2B5EF4-FFF2-40B4-BE49-F238E27FC236}">
                <a16:creationId xmlns:a16="http://schemas.microsoft.com/office/drawing/2014/main" id="{DD402956-7262-539F-15AE-E48DDE80F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138428"/>
            <a:ext cx="6665976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Regional Sales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6035040"/>
            <a:ext cx="7863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rPr dirty="0"/>
              <a:t>Sales are relatively</a:t>
            </a:r>
            <a:r>
              <a:rPr lang="en-IN" dirty="0"/>
              <a:t> distributed among different countries</a:t>
            </a:r>
            <a:r>
              <a:rPr dirty="0"/>
              <a:t>.</a:t>
            </a:r>
          </a:p>
        </p:txBody>
      </p:sp>
      <p:pic>
        <p:nvPicPr>
          <p:cNvPr id="7" name="Picture 6" descr="The diagram is a bar chart showing sales rankings for various countries, with the United Kingdom, Netherlands, Germany, France, Australia, Switzerland, Spain, and Belgium listed in descending order of sales.&#10;&#10;AI-generated content may be incorrect.">
            <a:extLst>
              <a:ext uri="{FF2B5EF4-FFF2-40B4-BE49-F238E27FC236}">
                <a16:creationId xmlns:a16="http://schemas.microsoft.com/office/drawing/2014/main" id="{A0938703-C463-0178-D7F6-D32303B5A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83" y="1059031"/>
            <a:ext cx="8465233" cy="4831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Sales Trends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35106"/>
            <a:ext cx="7863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rPr lang="en-IN" dirty="0"/>
              <a:t>Yearly sales were peaked in the year 2011</a:t>
            </a:r>
            <a:endParaRPr dirty="0"/>
          </a:p>
        </p:txBody>
      </p:sp>
      <p:pic>
        <p:nvPicPr>
          <p:cNvPr id="7" name="Picture 6" descr="The image depicts a line graph showing a monthly sales trend, with the x-axis representing time (from January 2011 to November 2011) and the y-axis showing sales figures, ranging from 0.4 to 1.0 million units.&#10;&#10;AI-generated content may be incorrect.">
            <a:extLst>
              <a:ext uri="{FF2B5EF4-FFF2-40B4-BE49-F238E27FC236}">
                <a16:creationId xmlns:a16="http://schemas.microsoft.com/office/drawing/2014/main" id="{AFDFBD88-7DA3-4753-B232-CDB884C5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087"/>
            <a:ext cx="9144000" cy="44677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Top Customers &amp;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863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rPr lang="en-IN" sz="1300" i="1" dirty="0"/>
              <a:t>A relatively small group of customers generates a substantial proportion of total revenue.</a:t>
            </a:r>
            <a:endParaRPr dirty="0"/>
          </a:p>
        </p:txBody>
      </p:sp>
      <p:pic>
        <p:nvPicPr>
          <p:cNvPr id="7" name="Picture 6" descr="The diagram illustrates the top five customers sorted by sales volume, with customer IDs and their corresponding sales figures.&#10;&#10;AI-generated content may be incorrect.">
            <a:extLst>
              <a:ext uri="{FF2B5EF4-FFF2-40B4-BE49-F238E27FC236}">
                <a16:creationId xmlns:a16="http://schemas.microsoft.com/office/drawing/2014/main" id="{0EFDEDD4-262D-16CE-3292-377948064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934" y="1091946"/>
            <a:ext cx="5608930" cy="4674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6291072"/>
            <a:ext cx="7863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rPr lang="en-IN" sz="1300" i="1" dirty="0"/>
              <a:t>Revenue is strongly influenced by product quantity and unit price.</a:t>
            </a:r>
            <a:endParaRPr dirty="0"/>
          </a:p>
        </p:txBody>
      </p:sp>
      <p:pic>
        <p:nvPicPr>
          <p:cNvPr id="7" name="Picture 6" descr="The image is a correlation heatmap displaying positive correlations between Quantity, UnitPrice, and TotalSales, and negative correlations between Quantity and UnitPrice.&#10;&#10;AI-generated content may be incorrect.">
            <a:extLst>
              <a:ext uri="{FF2B5EF4-FFF2-40B4-BE49-F238E27FC236}">
                <a16:creationId xmlns:a16="http://schemas.microsoft.com/office/drawing/2014/main" id="{C337B717-BC26-81A1-5601-C4E7D9F2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005840"/>
            <a:ext cx="7205472" cy="5119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982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lang="en-IN" dirty="0"/>
              <a:t>Revenue exceeded £8.9 million during the analysis period. The United Kingdom emerged as the dominant market while November recorded the highest monthly sales. Top-performing products and loyal customers contributed significantly to overall business success. Seasonal demand patterns were clearly visible throughout the year.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223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lang="en-IN" dirty="0"/>
              <a:t>Strengthen customer retention programs for high-value customers and increase marketing efforts around top-performing products. Focus inventory planning on periods of high seasonal demand and expand promotional activities within strong international markets such as Germany, France, and the Netherlands.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more than 541,000 retail transactions using a structured analytical approach. The project demonstrates practical application of Python, SQL, Excel, and data visualization techniques to generate actionable business insights and support data-driven decision making.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488</Words>
  <Application>Microsoft Office PowerPoint</Application>
  <PresentationFormat>On-screen Show (4:3)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Riya Baliyan</cp:lastModifiedBy>
  <cp:revision>2</cp:revision>
  <dcterms:created xsi:type="dcterms:W3CDTF">2013-01-27T09:14:16Z</dcterms:created>
  <dcterms:modified xsi:type="dcterms:W3CDTF">2026-06-02T19:47:12Z</dcterms:modified>
  <cp:category/>
</cp:coreProperties>
</file>